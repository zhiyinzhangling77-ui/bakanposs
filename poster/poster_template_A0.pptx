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2743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9178504" cy="1463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91440" bIns="9144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A universal 3-day ET recovery timescale across Mediterranean drylands —</a:t>
            </a:r>
          </a:p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and the satellite blind spot it reveals at drip-irrigated orchards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9178504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91440" bIns="91440" anchor="t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Shion Nagamine¹    |    ¹ Affiliation here (lab, university, city)    |    Contact: name@example.org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1431493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4314932" cy="6400800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Question.  After each water input — rain or drip irrigation — ecosystem evapotranspiration (ET) decays exponentially with a characteristic timescale τ. Is τ a property of the climate (universal), or of the management (rainfed vs irrigated)?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Why it matters.  If τ is universal, the same recovery model transfers between rainfed and irrigated systems; only the amplitude scales with management. This separates the climate signal from the human one.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Why a satellite check.  If τ is universal, a 5-km satellite ET product should reproduce it. Where it fails reveals what the satellite cannot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0"/>
            <a:ext cx="14314932" cy="8229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Calibri"/>
              </a:rPr>
              <a:t>Datasets — two contrasting EC sites + a satellite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0"/>
            <a:ext cx="14314932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Oran (Spain, 38.82°N, 1.86°W) — rainfed winter cereal, EC tower 2018–2020 (3 yrs).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Tarazona (Spain, 39.27°N, 1.94°W) — drip-irrigated almond orchard, EC tower 2020–2024 (5 yrs).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Meteosat ETv3 (LSA SAF DMET) — 5-km daily ET from MSG/SEVIRI 30-min, 2018–2024.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93440"/>
            <a:ext cx="1431493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2.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099280"/>
            <a:ext cx="14314932" cy="2168042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Event detection.  A water-input event = day with rain ≥ 3 mm (Oran) or irrigation ≥ 0.5 mm (Tarazona). Each event window is 4–14 days, ending at the next event.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Exponential fit.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    LE(d) = LE_∞ + (LE_0 − LE_∞) · exp(−d/τ)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Fitted on the median LE per day-since-event (≥ 3 events / day). LE_∞ fixed at the observed median for d ≥ 7 d.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Uncertainty.  Bootstrap (B = 5000, raw-data resampling) gives the SE and 95 % CI of τ. Boundary or low-R² fits are excluded.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MDE.  Minimum detectable effect for the “no difference” claim: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    MDE = 1.96 · √(SE₁² + SE₂²)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If |Δτ| &lt; MDE, two strata are statistically indistinguishable.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Satellite fair comparison.  Cloudy days dropped via n_obs &lt; 36 of 48 half-hour steps. Freeze days (Ta_min ≤ 0 °C) excluded. Paired daily comparison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12212" y="3108960"/>
            <a:ext cx="1431493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3. Results — Analysis A:  τ is universal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12212" y="4114800"/>
            <a:ext cx="14314932" cy="16459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9E75"/>
                </a:solidFill>
                <a:latin typeface="Calibri"/>
              </a:rPr>
              <a:t>Both rainfed cereal and drip-irrigated almond recover with the same τ ≈ 3 d. Only the amplitude scales — by 4.5× — with irrigation.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412212" y="5943600"/>
            <a:ext cx="14314932" cy="10515600"/>
          </a:xfrm>
          <a:prstGeom prst="rect">
            <a:avLst/>
          </a:prstGeom>
          <a:solidFill>
            <a:srgbClr val="DDDDDD"/>
          </a:solidFill>
          <a:ln w="19050">
            <a:solidFill>
              <a:srgbClr val="AAAA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i="1">
                <a:solidFill>
                  <a:srgbClr val="666666"/>
                </a:solidFill>
                <a:latin typeface="Calibri"/>
              </a:rPr>
              <a:t>[ Figure 4  —  output_analysis_A_v31/fig04_poster_main_v31.pdf ]
Recovery curves (Tarazona, Oran) + τ-comparison bars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12212" y="16642080"/>
            <a:ext cx="14314932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2800" b="0">
                <a:solidFill>
                  <a:srgbClr val="555555"/>
                </a:solidFill>
                <a:latin typeface="Calibri"/>
              </a:rPr>
              <a:t>Figure 4. EC LE recovery and τ comparison (see caption file v31_poster_caption.txt).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12212" y="17647920"/>
            <a:ext cx="14314932" cy="5029200"/>
          </a:xfrm>
          <a:prstGeom prst="rect">
            <a:avLst/>
          </a:prstGeom>
          <a:solidFill>
            <a:srgbClr val="E6F4EE"/>
          </a:solidFill>
          <a:ln w="12700">
            <a:solidFill>
              <a:srgbClr val="1D9E75"/>
            </a:solidFill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Key numbers (EC, active season).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Tarazona (drip almond, n = 41): τ = 3.36 d  [2.44, 4.90]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Oran (rainfed cereal, n = 10): τ = 2.82 d  [1.83, 5.48]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|Δτ| = 0.54 d  &lt;  MDE = 2.15 d  → indistinguishable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Amplitude: 21 vs 95 W/m²  →  4.5× management 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412212" y="22951440"/>
            <a:ext cx="1431493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4. Results — Analysis B:  Satellite blind spot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12212" y="23957280"/>
            <a:ext cx="14314932" cy="31089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1">
                <a:solidFill>
                  <a:srgbClr val="E85D04"/>
                </a:solidFill>
                <a:latin typeface="Calibri"/>
              </a:rPr>
              <a:t>At rainfed Oran, Meteosat ETv3 matches the tower (r = 0.82, bias +1 %). At drip-irrigated Tarazona, the satellite is flat: r = 0.07, bias −70 %. The entire management amplitude lives inside the bias — and the bias itself recovers on the Analysis-A τ timescale.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12212" y="27249120"/>
            <a:ext cx="14314932" cy="7772400"/>
          </a:xfrm>
          <a:prstGeom prst="rect">
            <a:avLst/>
          </a:prstGeom>
          <a:solidFill>
            <a:srgbClr val="DDDDDD"/>
          </a:solidFill>
          <a:ln w="19050">
            <a:solidFill>
              <a:srgbClr val="AAAA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i="1">
                <a:solidFill>
                  <a:srgbClr val="666666"/>
                </a:solidFill>
                <a:latin typeface="Calibri"/>
              </a:rPr>
              <a:t>[ Figure 4b — output_analysis_A_v32/fig04b_tarazona_blindspot_v32.pdf ]
Bias recovery curve  +  τ comparison (EC vs Sat vs Bias)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12212" y="35204400"/>
            <a:ext cx="14314932" cy="5943600"/>
          </a:xfrm>
          <a:prstGeom prst="rect">
            <a:avLst/>
          </a:prstGeom>
          <a:solidFill>
            <a:srgbClr val="DDDDDD"/>
          </a:solidFill>
          <a:ln w="19050">
            <a:solidFill>
              <a:srgbClr val="AAAAA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i="1">
                <a:solidFill>
                  <a:srgbClr val="666666"/>
                </a:solidFill>
                <a:latin typeface="Calibri"/>
              </a:rPr>
              <a:t>[ EC vs Meteosat ETv3 scatter — output_bias_stats/fig_scatter_ec_vs_metv3.png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12212" y="41422320"/>
            <a:ext cx="14314932" cy="-2642616"/>
          </a:xfrm>
          <a:prstGeom prst="rect">
            <a:avLst/>
          </a:prstGeom>
          <a:solidFill>
            <a:srgbClr val="FDECE3"/>
          </a:solidFill>
          <a:ln w="12700">
            <a:solidFill>
              <a:srgbClr val="E85D04"/>
            </a:solidFill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Key numbers (paired daily, qflag-clean, no freeze days).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Oran rainfed:    r = 0.82,  bias  +1 %,  KGE = 0.61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Tarazona drip:   r = 0.07,  bias −70 %,  KGE = −0.21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Bias-recovery fit:  τ_bias = 4.57 d,  amp_bias = 95 W/m²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Sat-only fit: τ pegged at floor, R² ≈ 0 (no recovery seen)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145464"/>
            <a:ext cx="29178504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5. Take-home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151304"/>
            <a:ext cx="29178504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</a:ln>
        </p:spPr>
        <p:txBody>
          <a:bodyPr wrap="square" lIns="137160" rIns="137160" tIns="91440" bIns="91440" anchor="t">
            <a:spAutoFit/>
          </a:bodyPr>
          <a:lstStyle/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τ ≈ 3 days is a climate property of Mediterranean drylands — rainfed and drip-irrigated share the same recovery clock.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Amplitude is the management signal: ~95 W/m² under drip irrigation vs ~21 W/m² rainfed (4.5×).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Meteosat ETv3 reproduces τ in rainfed conditions but is blind to drip-irrigation pulses (r = 0.07, −70 % bias).</a:t>
            </a:r>
          </a:p>
          <a:p>
            <a:pPr algn="l"/>
            <a:r>
              <a:rPr sz="3000" b="0">
                <a:solidFill>
                  <a:srgbClr val="1A1A1A"/>
                </a:solidFill>
                <a:latin typeface="Calibri"/>
              </a:rPr>
              <a:t>•  Implication: satellite ET alone cannot validate or quantify drip-irrigated water use; it needs a tower-based amplitude correction.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